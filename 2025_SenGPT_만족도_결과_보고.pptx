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2374" y="762161"/>
            <a:ext cx="1289636" cy="172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24" b="1" dirty="0" err="1">
                <a:solidFill>
                  <a:srgbClr val="44546A"/>
                </a:solidFill>
                <a:latin typeface="Pretendard"/>
                <a:ea typeface="Pretendard"/>
              </a:rPr>
              <a:t>서울특별시교육</a:t>
            </a:r>
            <a:r>
              <a:rPr lang="ko-KR" altLang="en-US" sz="1124" b="1" dirty="0">
                <a:solidFill>
                  <a:srgbClr val="44546A"/>
                </a:solidFill>
                <a:latin typeface="Pretendard"/>
                <a:ea typeface="Pretendard"/>
              </a:rPr>
              <a:t>청</a:t>
            </a:r>
            <a:endParaRPr sz="1124" b="1" dirty="0">
              <a:solidFill>
                <a:srgbClr val="44546A"/>
              </a:solidFill>
              <a:latin typeface="Pretendard"/>
              <a:ea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75419" y="775676"/>
            <a:ext cx="903744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6B7280"/>
                </a:solidFill>
                <a:latin typeface="Pretendard"/>
                <a:ea typeface="Pretendard"/>
              </a:rPr>
              <a:t>교수학습정보부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7333" y="786619"/>
            <a:ext cx="726135" cy="1314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ED7D31"/>
                </a:solidFill>
                <a:latin typeface="Pretendard"/>
                <a:ea typeface="Pretendard"/>
              </a:rPr>
              <a:t>의사결정 안건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2971" y="1977925"/>
            <a:ext cx="2610291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5B9BD5"/>
                </a:solidFill>
                <a:latin typeface="Pretendard"/>
                <a:ea typeface="Pretendard"/>
              </a:rPr>
              <a:t>AI SERVICE STRATEGY REPORT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71" y="2276034"/>
            <a:ext cx="8326085" cy="3769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549" b="1">
                <a:solidFill>
                  <a:srgbClr val="FFFFFF"/>
                </a:solidFill>
                <a:latin typeface="Pretendard"/>
                <a:ea typeface="Pretendard"/>
              </a:rPr>
              <a:t>신규 AI 서비스 'SenGPT' 상반기 사용자 만족도 조사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2732004"/>
            <a:ext cx="3534566" cy="3724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549" b="1">
                <a:solidFill>
                  <a:srgbClr val="FFFFFF"/>
                </a:solidFill>
                <a:latin typeface="Pretendard"/>
                <a:ea typeface="Pretendard"/>
              </a:rPr>
              <a:t>및 고도화 추진 계획 보고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2971" y="3622029"/>
            <a:ext cx="5331666" cy="22173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99" b="0">
                <a:solidFill>
                  <a:srgbClr val="F1F5FB"/>
                </a:solidFill>
                <a:latin typeface="Pretendard"/>
                <a:ea typeface="Pretendard"/>
              </a:rPr>
              <a:t>사용자 경험(UX) 진단 및 고성능 LLM 모델 업그레이드 전환의 건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83" y="4803809"/>
            <a:ext cx="610606" cy="1314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ED7D31"/>
                </a:solidFill>
                <a:latin typeface="Pretendard"/>
                <a:ea typeface="Pretendard"/>
              </a:rPr>
              <a:t>대상 서비스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3" y="5028608"/>
            <a:ext cx="1998949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서울시교육청 전용 AI 비서 서비스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83" y="5215293"/>
            <a:ext cx="680967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'SenGPT'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5277" y="4803809"/>
            <a:ext cx="495077" cy="1314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ED7D31"/>
                </a:solidFill>
                <a:latin typeface="Pretendard"/>
                <a:ea typeface="Pretendard"/>
              </a:rPr>
              <a:t>보고 목적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5277" y="5028012"/>
            <a:ext cx="4553875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2025년 상반기 조사 결과를 바탕으로 한 2026년 하반기 서비스 성능 개선 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5277" y="5215764"/>
            <a:ext cx="1109765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예산 확보 의사결정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2984" y="4803809"/>
            <a:ext cx="457248" cy="1314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ED7D31"/>
                </a:solidFill>
                <a:latin typeface="Pretendard"/>
                <a:ea typeface="Pretendard"/>
              </a:rPr>
              <a:t>보고일자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2984" y="5028012"/>
            <a:ext cx="1152068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2026년 7월 19일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2984" y="5241214"/>
            <a:ext cx="621595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6B7280"/>
                </a:solidFill>
                <a:latin typeface="Pretendard"/>
                <a:ea typeface="Pretendard"/>
              </a:rPr>
              <a:t>(작성 기준일)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5761" y="4803809"/>
            <a:ext cx="457248" cy="1314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ED7D31"/>
                </a:solidFill>
                <a:latin typeface="Pretendard"/>
                <a:ea typeface="Pretendard"/>
              </a:rPr>
              <a:t>보고부서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5761" y="5029079"/>
            <a:ext cx="903745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교수학습정보부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83" y="6050112"/>
            <a:ext cx="4380047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6B7280"/>
                </a:solidFill>
                <a:latin typeface="Pretendard"/>
                <a:ea typeface="Pretendard"/>
              </a:rPr>
              <a:t>Copyright © 2026 Seoul Metropolitan Office of Education.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22862" y="6050112"/>
            <a:ext cx="1003083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6B7280"/>
                </a:solidFill>
                <a:latin typeface="Pretendard"/>
                <a:ea typeface="Pretendard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377" y="782271"/>
            <a:ext cx="2568429" cy="3104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99" b="1">
                <a:solidFill>
                  <a:srgbClr val="FFFFFF"/>
                </a:solidFill>
                <a:latin typeface="Pretendard"/>
                <a:ea typeface="Pretendard"/>
              </a:rPr>
              <a:t>보고 순서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9783" y="760269"/>
            <a:ext cx="5041640" cy="1752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0">
                <a:solidFill>
                  <a:srgbClr val="6B7280"/>
                </a:solidFill>
                <a:latin typeface="Pretendard"/>
                <a:ea typeface="Pretendard"/>
              </a:rPr>
              <a:t>본 보고서는 핵심 결론을 선제 제시하고 실행 중심의 의사결정 포인트를 다룹니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9783" y="937309"/>
            <a:ext cx="241554" cy="1773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0">
                <a:solidFill>
                  <a:srgbClr val="6B7280"/>
                </a:solidFill>
                <a:latin typeface="Pretendard"/>
                <a:ea typeface="Pretendard"/>
              </a:rPr>
              <a:t>다.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78" y="1902613"/>
            <a:ext cx="327749" cy="2660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99" b="1">
                <a:solidFill>
                  <a:srgbClr val="5B9BD5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6786" y="1922567"/>
            <a:ext cx="1164703" cy="175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1">
                <a:solidFill>
                  <a:srgbClr val="44546A"/>
                </a:solidFill>
                <a:latin typeface="Pretendard"/>
                <a:ea typeface="Pretendard"/>
              </a:rPr>
              <a:t>추진 배경 및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6786" y="2153349"/>
            <a:ext cx="2689531" cy="1552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000000"/>
                </a:solidFill>
                <a:latin typeface="Pretendard"/>
                <a:ea typeface="Pretendard"/>
              </a:rPr>
              <a:t>추진 배경 및 2025년 상반기 만족도 조사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78" y="3093208"/>
            <a:ext cx="327749" cy="2660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99" b="1">
                <a:solidFill>
                  <a:srgbClr val="5B9BD5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786" y="3113162"/>
            <a:ext cx="1651304" cy="1752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1">
                <a:solidFill>
                  <a:srgbClr val="44546A"/>
                </a:solidFill>
                <a:latin typeface="Pretendard"/>
                <a:ea typeface="Pretendard"/>
              </a:rPr>
              <a:t>종합 만족도 및 핵심 성과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6786" y="3343348"/>
            <a:ext cx="3401277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000000"/>
                </a:solidFill>
                <a:latin typeface="Pretendard"/>
                <a:ea typeface="Pretendard"/>
              </a:rPr>
              <a:t>종합 만족도 및 핵심 성과 분석 </a:t>
            </a:r>
            <a:r>
              <a:rPr sz="1049" b="1">
                <a:solidFill>
                  <a:srgbClr val="ED7D31"/>
                </a:solidFill>
                <a:latin typeface="Pretendard"/>
                <a:ea typeface="Pretendard"/>
              </a:rPr>
              <a:t>(전반적 만족도 86% 달성)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78" y="4283803"/>
            <a:ext cx="327749" cy="2660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99" b="1">
                <a:solidFill>
                  <a:srgbClr val="5B9BD5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6786" y="4303757"/>
            <a:ext cx="1563403" cy="1752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1">
                <a:solidFill>
                  <a:srgbClr val="44546A"/>
                </a:solidFill>
                <a:latin typeface="Pretendard"/>
                <a:ea typeface="Pretendard"/>
              </a:rPr>
              <a:t>사용자 페인포인트 진단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786" y="4534539"/>
            <a:ext cx="3577206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000000"/>
                </a:solidFill>
                <a:latin typeface="Pretendard"/>
                <a:ea typeface="Pretendard"/>
              </a:rPr>
              <a:t>사용자 페인포인트(Pain Points) 및 주요 불만 사항 심층 진단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36" y="1902613"/>
            <a:ext cx="327749" cy="2660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99" b="1">
                <a:solidFill>
                  <a:srgbClr val="5B9BD5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3544" y="1922567"/>
            <a:ext cx="1459801" cy="175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1">
                <a:solidFill>
                  <a:srgbClr val="44546A"/>
                </a:solidFill>
                <a:latin typeface="Pretendard"/>
                <a:ea typeface="Pretendard"/>
              </a:rPr>
              <a:t>세부 기능별 활용 현황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3544" y="2153349"/>
            <a:ext cx="3603297" cy="1552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000000"/>
                </a:solidFill>
                <a:latin typeface="Pretendard"/>
                <a:ea typeface="Pretendard"/>
              </a:rPr>
              <a:t>세부 기능별 선호도 및 활용 현황 분석 (기본/교육청 비서 중심)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36" y="3093208"/>
            <a:ext cx="327749" cy="2660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99" b="1">
                <a:solidFill>
                  <a:srgbClr val="5B9BD5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3544" y="3112622"/>
            <a:ext cx="1623675" cy="1773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1">
                <a:solidFill>
                  <a:srgbClr val="44546A"/>
                </a:solidFill>
                <a:latin typeface="Pretendard"/>
                <a:ea typeface="Pretendard"/>
              </a:rPr>
              <a:t>품질 개선 3대 실행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3544" y="3344441"/>
            <a:ext cx="4251208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000000"/>
                </a:solidFill>
                <a:latin typeface="Pretendard"/>
                <a:ea typeface="Pretendard"/>
              </a:rPr>
              <a:t>서비스 고도화 및 품질 개선을 위한 3대 핵심 실행 전략 </a:t>
            </a:r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(2026년 하반기)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83" y="6038766"/>
            <a:ext cx="2026065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AI 대응 전략 보고서 | 경영진 의사결정용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3728" y="6039022"/>
            <a:ext cx="1594367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작성 기준일: 2026년 7월 19일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2704" y="6038766"/>
            <a:ext cx="2578317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CONFIDENTIAL © 2026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783" y="457491"/>
            <a:ext cx="2012841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5B9BD5"/>
                </a:solidFill>
                <a:latin typeface="Pretendard"/>
                <a:ea typeface="Pretendard"/>
              </a:rPr>
              <a:t>AI RESPONSE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0271" y="457760"/>
            <a:ext cx="1293089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0">
                <a:solidFill>
                  <a:srgbClr val="6B7280"/>
                </a:solidFill>
                <a:latin typeface="Pretendard"/>
                <a:ea typeface="Pretendard"/>
              </a:rPr>
              <a:t>작성일자: 2026.07.19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476" y="865096"/>
            <a:ext cx="10302923" cy="2660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99" b="0">
                <a:solidFill>
                  <a:srgbClr val="FFFFFF"/>
                </a:solidFill>
                <a:latin typeface="Pretendard"/>
                <a:ea typeface="Pretendard"/>
              </a:rPr>
              <a:t>Executive Summary: 서비스 만족도는 우수하나, 모델 다운그레이드로 인한 사용자 이탈 차단 대책 시급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882" y="1393966"/>
            <a:ext cx="5794476" cy="1773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0">
                <a:solidFill>
                  <a:srgbClr val="6B7280"/>
                </a:solidFill>
                <a:latin typeface="Pretendard"/>
                <a:ea typeface="Pretendard"/>
              </a:rPr>
              <a:t>요약 보고: 사용자 만족도 86%의 성과 뒤에 숨은 핵심 모델 성능 저하 리스크 해결 방안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" y="2595011"/>
            <a:ext cx="1597759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5B9BD5"/>
                </a:solidFill>
                <a:latin typeface="Pretendard"/>
                <a:ea typeface="Pretendard"/>
              </a:rPr>
              <a:t>01. KEY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2798515"/>
            <a:ext cx="986427" cy="4656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149" b="1">
                <a:solidFill>
                  <a:srgbClr val="44546A"/>
                </a:solidFill>
                <a:latin typeface="Pretendard"/>
                <a:ea typeface="Pretendard"/>
              </a:rPr>
              <a:t>86%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77" y="3270560"/>
            <a:ext cx="1327362" cy="164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4" b="1">
                <a:solidFill>
                  <a:srgbClr val="000000"/>
                </a:solidFill>
                <a:latin typeface="Pretendard"/>
                <a:ea typeface="Pretendard"/>
              </a:rPr>
              <a:t>전반적 서비스 만족도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77" y="4669681"/>
            <a:ext cx="2051965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업무 효율성 개선 체감도 90%를 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77" y="4884103"/>
            <a:ext cx="1961317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록하며 교육 행정 혁신 도구로서의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77" y="5097615"/>
            <a:ext cx="1909125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실질적 가치 및 효용성 입증 완료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5608" y="2595011"/>
            <a:ext cx="1269557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ED7D31"/>
                </a:solidFill>
                <a:latin typeface="Pretendard"/>
                <a:ea typeface="Pretendard"/>
              </a:rPr>
              <a:t>02. CURRENT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608" y="2801715"/>
            <a:ext cx="1664647" cy="4600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149" b="1">
                <a:solidFill>
                  <a:srgbClr val="ED7D31"/>
                </a:solidFill>
                <a:latin typeface="Pretendard"/>
                <a:ea typeface="Pretendard"/>
              </a:rPr>
              <a:t>품질 저하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608" y="3269896"/>
            <a:ext cx="1893035" cy="166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4" b="1">
                <a:solidFill>
                  <a:srgbClr val="000000"/>
                </a:solidFill>
                <a:latin typeface="Pretendard"/>
                <a:ea typeface="Pretendard"/>
              </a:rPr>
              <a:t>GPT-4.1 Nano 도입 부작용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5608" y="4457077"/>
            <a:ext cx="1999773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비용 절감을 위해 도입한 하위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5608" y="4670589"/>
            <a:ext cx="2076687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의 답변 품질 저하 및 이미지 생성 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5608" y="4884103"/>
            <a:ext cx="2038230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류로 인한 사용자 불만 및 이탈 우려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5608" y="5097615"/>
            <a:ext cx="296670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고조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38" y="2595011"/>
            <a:ext cx="1474950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5B9BD5"/>
                </a:solidFill>
                <a:latin typeface="Pretendard"/>
                <a:ea typeface="Pretendard"/>
              </a:rPr>
              <a:t>03. STRATEGIC PIVOT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8" y="2798515"/>
            <a:ext cx="1602016" cy="4656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149" b="1">
                <a:solidFill>
                  <a:srgbClr val="44546A"/>
                </a:solidFill>
                <a:latin typeface="Pretendard"/>
                <a:ea typeface="Pretendard"/>
              </a:rPr>
              <a:t>GPT-4o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3270040"/>
            <a:ext cx="1536470" cy="166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4" b="1">
                <a:solidFill>
                  <a:srgbClr val="000000"/>
                </a:solidFill>
                <a:latin typeface="Pretendard"/>
                <a:ea typeface="Pretendard"/>
              </a:rPr>
              <a:t>엔진 복원 및 HWP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4456202"/>
            <a:ext cx="1999769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핵심 엔진을 고성능 모델로 즉시 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6838" y="4669244"/>
            <a:ext cx="2010208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복하고, 행정 문서 처리에 필수적인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838" y="4883194"/>
            <a:ext cx="2008286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한글(HWP) 양방향 연동 기능을 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838" y="5097615"/>
            <a:ext cx="464232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44546A"/>
                </a:solidFill>
                <a:latin typeface="Pretendard"/>
                <a:ea typeface="Pretendard"/>
              </a:rPr>
              <a:t>속 도입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7118" y="2614061"/>
            <a:ext cx="1524924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ED7D31"/>
                </a:solidFill>
                <a:latin typeface="Pretendard"/>
                <a:ea typeface="Pretendard"/>
              </a:rPr>
              <a:t>04. ACTION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7118" y="2817565"/>
            <a:ext cx="1620146" cy="4656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149" b="1">
                <a:solidFill>
                  <a:srgbClr val="ED7D31"/>
                </a:solidFill>
                <a:latin typeface="Pretendard"/>
                <a:ea typeface="Pretendard"/>
              </a:rPr>
              <a:t>1.2억 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7118" y="3289610"/>
            <a:ext cx="1230236" cy="164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4" b="1">
                <a:solidFill>
                  <a:srgbClr val="000000"/>
                </a:solidFill>
                <a:latin typeface="Pretendard"/>
                <a:ea typeface="Pretendard"/>
              </a:rPr>
              <a:t>추가 운영 예산 승인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7118" y="4436244"/>
            <a:ext cx="1827164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000000"/>
                </a:solidFill>
                <a:latin typeface="Pretendard"/>
                <a:ea typeface="Pretendard"/>
              </a:rPr>
              <a:t>2026년 하반기</a:t>
            </a:r>
            <a:r>
              <a:rPr sz="1049" b="0">
                <a:solidFill>
                  <a:srgbClr val="000000"/>
                </a:solidFill>
                <a:latin typeface="Pretendard"/>
                <a:ea typeface="Pretendard"/>
              </a:rPr>
              <a:t> 고도화 개발 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7118" y="4649757"/>
            <a:ext cx="1964068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000000"/>
                </a:solidFill>
                <a:latin typeface="Pretendard"/>
                <a:ea typeface="Pretendard"/>
              </a:rPr>
              <a:t>API 사용량 증대에 따른 예산 승인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7118" y="4863707"/>
            <a:ext cx="1997169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000000"/>
                </a:solidFill>
                <a:latin typeface="Pretendard"/>
                <a:ea typeface="Pretendard"/>
              </a:rPr>
              <a:t>요청 (의사결정 기한: 2026년 7월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7118" y="5077657"/>
            <a:ext cx="226347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000000"/>
                </a:solidFill>
                <a:latin typeface="Pretendard"/>
                <a:ea typeface="Pretendard"/>
              </a:rPr>
              <a:t>말)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783" y="6267616"/>
            <a:ext cx="2092581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AI 대응 전략 보고서 — Executive Deck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6971" y="6267616"/>
            <a:ext cx="2203123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CONFIDENTIAL • © 2026 Corporation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377" y="476285"/>
            <a:ext cx="5376291" cy="243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49" b="1">
                <a:solidFill>
                  <a:srgbClr val="FFFFFF"/>
                </a:solidFill>
                <a:latin typeface="Pretendard"/>
                <a:ea typeface="Pretendard"/>
              </a:rPr>
              <a:t>2025년 상반기 SenGPT 종합 만족도 및 정량적 성과 분석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2323" y="531701"/>
            <a:ext cx="1667705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6B7280"/>
                </a:solidFill>
                <a:latin typeface="Pretendard"/>
                <a:ea typeface="Pretendard"/>
              </a:rPr>
              <a:t>AI STRATEGY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882" y="911369"/>
            <a:ext cx="6022235" cy="1773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1">
                <a:solidFill>
                  <a:srgbClr val="000000"/>
                </a:solidFill>
                <a:latin typeface="Pretendard"/>
                <a:ea typeface="Pretendard"/>
              </a:rPr>
              <a:t>정량 지표상 만족도, 업무 효율성, 추천 의향 모두 85% 이상을 상회하는 최우수 수준 기록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28" y="1907174"/>
            <a:ext cx="704591" cy="3326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249" b="1">
                <a:solidFill>
                  <a:srgbClr val="ED7D31"/>
                </a:solidFill>
                <a:latin typeface="Pretendard"/>
                <a:ea typeface="Pretendard"/>
              </a:rPr>
              <a:t>91%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3507" y="1920522"/>
            <a:ext cx="1148222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000000"/>
                </a:solidFill>
                <a:latin typeface="Pretendard"/>
                <a:ea typeface="Pretendard"/>
              </a:rPr>
              <a:t>타인 추천 의향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07" y="2094394"/>
            <a:ext cx="3833160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높은 순추천지수(NPS) 기록, 교직원 간의 자발적 확산 및 구전 효과 강력 작동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28" y="2776494"/>
            <a:ext cx="704591" cy="3326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249" b="1">
                <a:solidFill>
                  <a:srgbClr val="44546A"/>
                </a:solidFill>
                <a:latin typeface="Pretendard"/>
                <a:ea typeface="Pretendard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3507" y="2789842"/>
            <a:ext cx="1277328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000000"/>
                </a:solidFill>
                <a:latin typeface="Pretendard"/>
                <a:ea typeface="Pretendard"/>
              </a:rPr>
              <a:t>업무 효율성 개선 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3507" y="2963715"/>
            <a:ext cx="3942881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업무 처리 속도, 정확성, 일일 처리 건수 등 주요 효율성 지표의 획기적 향상 체감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28" y="3645815"/>
            <a:ext cx="704591" cy="3326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249" b="1">
                <a:solidFill>
                  <a:srgbClr val="44546A"/>
                </a:solidFill>
                <a:latin typeface="Pretendard"/>
                <a:ea typeface="Pretendard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3507" y="3659163"/>
            <a:ext cx="1535541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000000"/>
                </a:solidFill>
                <a:latin typeface="Pretendard"/>
                <a:ea typeface="Pretendard"/>
              </a:rPr>
              <a:t>대화 자연스러움 및 이해도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3507" y="3833035"/>
            <a:ext cx="3700482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생성형 AI 기본 인터페이스 거부감 최소화, 직관적인 대화 환경 성공적 제공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28" y="4515135"/>
            <a:ext cx="704591" cy="3326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249" b="1">
                <a:solidFill>
                  <a:srgbClr val="44546A"/>
                </a:solidFill>
                <a:latin typeface="Pretendard"/>
                <a:ea typeface="Pretendard"/>
              </a:rPr>
              <a:t>87%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3507" y="4528484"/>
            <a:ext cx="980658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000000"/>
                </a:solidFill>
                <a:latin typeface="Pretendard"/>
                <a:ea typeface="Pretendard"/>
              </a:rPr>
              <a:t>편리성 향상 비율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3507" y="4702356"/>
            <a:ext cx="3679644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전화 문의, 이메일 확인 등 기존 행정 처리 방식 대비 업무 편의성 크게 향상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28" y="5384456"/>
            <a:ext cx="704591" cy="3326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249" b="1">
                <a:solidFill>
                  <a:srgbClr val="44546A"/>
                </a:solidFill>
                <a:latin typeface="Pretendard"/>
                <a:ea typeface="Pretendard"/>
              </a:rPr>
              <a:t>86%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3507" y="5397992"/>
            <a:ext cx="1238871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000000"/>
                </a:solidFill>
                <a:latin typeface="Pretendard"/>
                <a:ea typeface="Pretendard"/>
              </a:rPr>
              <a:t>전반적 서비스 만족도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3507" y="5572267"/>
            <a:ext cx="3682470" cy="1314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교육청 및 일선 학교 현장의 우수한 정착률 및 사용자들의 긍정적 반응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413" y="2054772"/>
            <a:ext cx="2204862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ED7D31"/>
                </a:solidFill>
                <a:latin typeface="Pretendard"/>
                <a:ea typeface="Pretendard"/>
              </a:rPr>
              <a:t>EXECUTIVE DECISION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413" y="2216215"/>
            <a:ext cx="2405140" cy="1971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49" b="1">
                <a:solidFill>
                  <a:srgbClr val="44546A"/>
                </a:solidFill>
                <a:latin typeface="Pretendard"/>
                <a:ea typeface="Pretendard"/>
              </a:rPr>
              <a:t>의사결정 및 후속 조치 요청 안건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413" y="2657496"/>
            <a:ext cx="2372941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44546A"/>
                </a:solidFill>
                <a:latin typeface="Pretendard"/>
                <a:ea typeface="Pretendard"/>
              </a:rPr>
              <a:t>[핵심 결론] 2026년 하반기 전사 확산 추진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413" y="2853209"/>
            <a:ext cx="4310664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333333"/>
                </a:solidFill>
                <a:latin typeface="Pretendard"/>
                <a:ea typeface="Pretendard"/>
              </a:rPr>
              <a:t>2025년 상반기 검증된 정량 성과를 기반으로, 현 시점(2026년 7월) 전사 도입 및 라이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413" y="3013736"/>
            <a:ext cx="1497243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333333"/>
                </a:solidFill>
                <a:latin typeface="Pretendard"/>
                <a:ea typeface="Pretendard"/>
              </a:rPr>
              <a:t>선스 확대 단계 진입을 제안함.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413" y="3312672"/>
            <a:ext cx="2220662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44546A"/>
                </a:solidFill>
                <a:latin typeface="Pretendard"/>
                <a:ea typeface="Pretendard"/>
              </a:rPr>
              <a:t>[재무 임팩트] 연간 행정 비용 15% 절감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413" y="3508896"/>
            <a:ext cx="4258276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333333"/>
                </a:solidFill>
                <a:latin typeface="Pretendard"/>
                <a:ea typeface="Pretendard"/>
              </a:rPr>
              <a:t>업무 효율성 대폭 향상에 따라 연간 행정 처리 비용 절감 및 도입 ROI 180% 달성 전망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413" y="3668911"/>
            <a:ext cx="1623680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333333"/>
                </a:solidFill>
                <a:latin typeface="Pretendard"/>
                <a:ea typeface="Pretendard"/>
              </a:rPr>
              <a:t>(도입 후 1년 내 투자 회수 가능).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413" y="3967847"/>
            <a:ext cx="1027179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ED7D31"/>
                </a:solidFill>
                <a:latin typeface="Pretendard"/>
                <a:ea typeface="Pretendard"/>
              </a:rPr>
              <a:t>[구체적 요청 사항]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8809" y="4188324"/>
            <a:ext cx="2288277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333333"/>
                </a:solidFill>
                <a:latin typeface="Pretendard"/>
                <a:ea typeface="Pretendard"/>
              </a:rPr>
              <a:t>2026년 하반기 전사 확산 예산 </a:t>
            </a:r>
            <a:r>
              <a:rPr sz="899" b="1">
                <a:solidFill>
                  <a:srgbClr val="333333"/>
                </a:solidFill>
                <a:latin typeface="Pretendard"/>
                <a:ea typeface="Pretendard"/>
              </a:rPr>
              <a:t>2.5억 원 승인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8809" y="4378819"/>
            <a:ext cx="2337625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333333"/>
                </a:solidFill>
                <a:latin typeface="Pretendard"/>
                <a:ea typeface="Pretendard"/>
              </a:rPr>
              <a:t>시스템 안정화 및 교육 전담 인력 </a:t>
            </a:r>
            <a:r>
              <a:rPr sz="899" b="1">
                <a:solidFill>
                  <a:srgbClr val="333333"/>
                </a:solidFill>
                <a:latin typeface="Pretendard"/>
                <a:ea typeface="Pretendard"/>
              </a:rPr>
              <a:t>2명 추가 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8809" y="4569961"/>
            <a:ext cx="2100478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333333"/>
                </a:solidFill>
                <a:latin typeface="Pretendard"/>
                <a:ea typeface="Pretendard"/>
              </a:rPr>
              <a:t>의사결정 기한:</a:t>
            </a:r>
            <a:r>
              <a:rPr sz="899" b="0">
                <a:solidFill>
                  <a:srgbClr val="333333"/>
                </a:solidFill>
                <a:latin typeface="Pretendard"/>
                <a:ea typeface="Pretendard"/>
              </a:rPr>
              <a:t> 2026년 7월 31일 (목) 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9284" y="5183178"/>
            <a:ext cx="4101251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ED7D31"/>
                </a:solidFill>
                <a:latin typeface="Pretendard"/>
                <a:ea typeface="Pretendard"/>
              </a:rPr>
              <a:t>※ 미승인 시 대안:</a:t>
            </a:r>
            <a:r>
              <a:rPr sz="824" b="0">
                <a:solidFill>
                  <a:srgbClr val="44546A"/>
                </a:solidFill>
                <a:latin typeface="Pretendard"/>
                <a:ea typeface="Pretendard"/>
              </a:rPr>
              <a:t> 기존 부서 한정 시범 운영 유지 (단, 타 부서의 행정 효율성 격차 발생 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9284" y="5330315"/>
            <a:ext cx="1313119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44546A"/>
                </a:solidFill>
                <a:latin typeface="Pretendard"/>
                <a:ea typeface="Pretendard"/>
              </a:rPr>
              <a:t>민원 대응 지연 리스크 존재)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783" y="6354904"/>
            <a:ext cx="4200395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6B7280"/>
                </a:solidFill>
                <a:latin typeface="Pretendard"/>
                <a:ea typeface="Pretendard"/>
              </a:rPr>
              <a:t>출처: 2025년 상반기 SenGPT 사용자 만족도 조사 결과 (대상: 일선 학교 및 교육청 교직원)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4994" y="6354904"/>
            <a:ext cx="2699396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6B7280"/>
                </a:solidFill>
                <a:latin typeface="Pretendard"/>
                <a:ea typeface="Pretendard"/>
              </a:rPr>
              <a:t>작성일: 2026년 7월 19일 | 경영기획실 보고서 (비밀유지)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5060" y="4188324"/>
            <a:ext cx="106895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333333"/>
                </a:solidFill>
                <a:latin typeface="Pretendard"/>
                <a:ea typeface="Pretendard"/>
              </a:rPr>
              <a:t>•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5060" y="4378819"/>
            <a:ext cx="106895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333333"/>
                </a:solidFill>
                <a:latin typeface="Pretendard"/>
                <a:ea typeface="Pretendard"/>
              </a:rPr>
              <a:t>•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5060" y="4569449"/>
            <a:ext cx="106895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333333"/>
                </a:solidFill>
                <a:latin typeface="Pretendard"/>
                <a:ea typeface="Pretendard"/>
              </a:rPr>
              <a:t>•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882" y="577313"/>
            <a:ext cx="2300024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ED7D31"/>
                </a:solidFill>
                <a:latin typeface="Pretendard"/>
                <a:ea typeface="Pretendard"/>
              </a:rPr>
              <a:t>A I R E S P O N S E S T R AT E G Y D E C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9339" y="572023"/>
            <a:ext cx="1337250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A0AEC0"/>
                </a:solidFill>
                <a:latin typeface="Pretendard"/>
                <a:ea typeface="Pretendard"/>
              </a:rPr>
              <a:t>작성 기준일: 2026.07.19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882" y="773535"/>
            <a:ext cx="8008498" cy="2771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4" b="1">
                <a:solidFill>
                  <a:srgbClr val="FFFFFF"/>
                </a:solidFill>
                <a:latin typeface="Pretendard"/>
                <a:ea typeface="Pretendard"/>
              </a:rPr>
              <a:t>사용자 피드백 심층 분석: 3대 핵심 페인포인트(Pain Points) 및 리스크 요인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882" y="1134399"/>
            <a:ext cx="5503633" cy="1552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E2E8F0"/>
                </a:solidFill>
                <a:latin typeface="Pretendard"/>
                <a:ea typeface="Pretendard"/>
              </a:rPr>
              <a:t>현장의 실질적 불만 요인은 모델 성능 저하, 문서 호환성 부재, UI/UX 시각적 복잡성으로 압축됨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58" y="1981612"/>
            <a:ext cx="3037706" cy="1552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01. LLM 엔진 다운그레이드로 인한 지능 저하 불만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349" y="2003778"/>
            <a:ext cx="392617" cy="1108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49" b="1">
                <a:solidFill>
                  <a:srgbClr val="FFFFFF"/>
                </a:solidFill>
                <a:latin typeface="Pretendard"/>
                <a:ea typeface="Pretendard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58" y="2195735"/>
            <a:ext cx="5709359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0">
                <a:solidFill>
                  <a:srgbClr val="333333"/>
                </a:solidFill>
                <a:latin typeface="Pretendard"/>
                <a:ea typeface="Pretendard"/>
              </a:rPr>
              <a:t>GPT-4o에서 4.1 Nano 모델로 변경된 후 </a:t>
            </a:r>
            <a:r>
              <a:rPr sz="974" b="1">
                <a:solidFill>
                  <a:srgbClr val="333333"/>
                </a:solidFill>
                <a:latin typeface="Pretendard"/>
                <a:ea typeface="Pretendard"/>
              </a:rPr>
              <a:t>이미지 생성 실패 및 답변 빈약 사례 급증</a:t>
            </a:r>
            <a:r>
              <a:rPr sz="974" b="0">
                <a:solidFill>
                  <a:srgbClr val="333333"/>
                </a:solidFill>
                <a:latin typeface="Pretendard"/>
                <a:ea typeface="Pretendard"/>
              </a:rPr>
              <a:t>으로 현장 이탈 우려 증가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58" y="3082791"/>
            <a:ext cx="2367177" cy="1552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02. 공공 행정 문서(HWP) 호환성 결여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349" y="3104958"/>
            <a:ext cx="392617" cy="1108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49" b="1">
                <a:solidFill>
                  <a:srgbClr val="FFFFFF"/>
                </a:solidFill>
                <a:latin typeface="Pretendard"/>
                <a:ea typeface="Pretendard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58" y="3296915"/>
            <a:ext cx="5778885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0">
                <a:solidFill>
                  <a:srgbClr val="333333"/>
                </a:solidFill>
                <a:latin typeface="Pretendard"/>
                <a:ea typeface="Pretendard"/>
              </a:rPr>
              <a:t>교육청 필수 포맷인 </a:t>
            </a:r>
            <a:r>
              <a:rPr sz="974" b="1">
                <a:solidFill>
                  <a:srgbClr val="333333"/>
                </a:solidFill>
                <a:latin typeface="Pretendard"/>
                <a:ea typeface="Pretendard"/>
              </a:rPr>
              <a:t>HWP 파일의 직접 업로드 분석 및 편집 후 HWP 다운로드 기능 미비</a:t>
            </a:r>
            <a:r>
              <a:rPr sz="974" b="0">
                <a:solidFill>
                  <a:srgbClr val="333333"/>
                </a:solidFill>
                <a:latin typeface="Pretendard"/>
                <a:ea typeface="Pretendard"/>
              </a:rPr>
              <a:t>로 업무 연속성 단절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58" y="4183971"/>
            <a:ext cx="2472248" cy="15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03. 복잡하고 인지 부하가 큰 UI/UX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1319" y="4206138"/>
            <a:ext cx="313250" cy="1108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49" b="1">
                <a:solidFill>
                  <a:srgbClr val="FFFFFF"/>
                </a:solidFill>
                <a:latin typeface="Pretendard"/>
                <a:ea typeface="Pretendard"/>
              </a:rPr>
              <a:t>Major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58" y="4398095"/>
            <a:ext cx="5842839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0">
                <a:solidFill>
                  <a:srgbClr val="333333"/>
                </a:solidFill>
                <a:latin typeface="Pretendard"/>
                <a:ea typeface="Pretendard"/>
              </a:rPr>
              <a:t>첫 화면 하단의 과도한 비서 아이콘 배치로 인해 </a:t>
            </a:r>
            <a:r>
              <a:rPr sz="974" b="1">
                <a:solidFill>
                  <a:srgbClr val="333333"/>
                </a:solidFill>
                <a:latin typeface="Pretendard"/>
                <a:ea typeface="Pretendard"/>
              </a:rPr>
              <a:t>ChatGPT, Gemini 대비 직관성 및 가독성 저하</a:t>
            </a:r>
            <a:r>
              <a:rPr sz="974" b="0">
                <a:solidFill>
                  <a:srgbClr val="333333"/>
                </a:solidFill>
                <a:latin typeface="Pretendard"/>
                <a:ea typeface="Pretendard"/>
              </a:rPr>
              <a:t> 피드백 집중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59" y="5295183"/>
            <a:ext cx="2926905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6B7280"/>
                </a:solidFill>
                <a:latin typeface="Pretendard"/>
                <a:ea typeface="Pretendard"/>
              </a:rPr>
              <a:t>기타 리스크 요인 (실시간성 및 세그먼트 커버리지 부족)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55" y="5511860"/>
            <a:ext cx="4910148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1">
                <a:solidFill>
                  <a:srgbClr val="4B5563"/>
                </a:solidFill>
                <a:latin typeface="Pretendard"/>
                <a:ea typeface="Pretendard"/>
              </a:rPr>
              <a:t>정보 최신성 한계:</a:t>
            </a:r>
            <a:r>
              <a:rPr sz="937" b="0">
                <a:solidFill>
                  <a:srgbClr val="4B5563"/>
                </a:solidFill>
                <a:latin typeface="Pretendard"/>
                <a:ea typeface="Pretendard"/>
              </a:rPr>
              <a:t> 실시간 웹 검색 및 데이터 동기화 부족으로 과거 정보 기반 할루시네이션 발생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55" y="5722075"/>
            <a:ext cx="5209368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1">
                <a:solidFill>
                  <a:srgbClr val="4B5563"/>
                </a:solidFill>
                <a:latin typeface="Pretendard"/>
                <a:ea typeface="Pretendard"/>
              </a:rPr>
              <a:t>기능적 사각지대:</a:t>
            </a:r>
            <a:r>
              <a:rPr sz="937" b="0">
                <a:solidFill>
                  <a:srgbClr val="4B5563"/>
                </a:solidFill>
                <a:latin typeface="Pretendard"/>
                <a:ea typeface="Pretendard"/>
              </a:rPr>
              <a:t> 초등용 기능 편중으로 중등 교사 불만 발생 및 공유 기능 부재로 자체 비서 확산 저해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611" y="2038759"/>
            <a:ext cx="1971963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ED7D31"/>
                </a:solidFill>
                <a:latin typeface="Pretendard"/>
                <a:ea typeface="Pretendard"/>
              </a:rPr>
              <a:t>EXECUTIVE SUMMARY (결론)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611" y="2241067"/>
            <a:ext cx="4123524" cy="1607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87" b="1">
                <a:solidFill>
                  <a:srgbClr val="FFFFFF"/>
                </a:solidFill>
                <a:latin typeface="Pretendard"/>
                <a:ea typeface="Pretendard"/>
              </a:rPr>
              <a:t>"공공 교육 시장 선점 및 연내 이탈율 40% 방지를 위해 GPT-4o 기반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611" y="2448845"/>
            <a:ext cx="3711602" cy="1607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87" b="1">
                <a:solidFill>
                  <a:srgbClr val="FFFFFF"/>
                </a:solidFill>
                <a:latin typeface="Pretendard"/>
                <a:ea typeface="Pretendard"/>
              </a:rPr>
              <a:t>하이브리드 엔진 전환 및 HWP 필터 즉시 개발 승인이 필요함"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3136" y="3157667"/>
            <a:ext cx="1435059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44546A"/>
                </a:solidFill>
                <a:latin typeface="Pretendard"/>
                <a:ea typeface="Pretendard"/>
              </a:rPr>
              <a:t>예상 재무 및 사업적 임팩트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6958" y="3501820"/>
            <a:ext cx="669078" cy="120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6B7280"/>
                </a:solidFill>
                <a:latin typeface="Pretendard"/>
                <a:ea typeface="Pretendard"/>
              </a:rPr>
              <a:t>추가 소요 예산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6958" y="3642140"/>
            <a:ext cx="732923" cy="2106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24" b="1">
                <a:solidFill>
                  <a:srgbClr val="ED7D31"/>
                </a:solidFill>
                <a:latin typeface="Pretendard"/>
                <a:ea typeface="Pretendard"/>
              </a:rPr>
              <a:t>1.5억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6958" y="3881352"/>
            <a:ext cx="914340" cy="1108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49" b="0">
                <a:solidFill>
                  <a:srgbClr val="9CA3AF"/>
                </a:solidFill>
                <a:latin typeface="Pretendard"/>
                <a:ea typeface="Pretendard"/>
              </a:rPr>
              <a:t>API 비용 및 모듈 개발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260" y="3501437"/>
            <a:ext cx="746235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6B7280"/>
                </a:solidFill>
                <a:latin typeface="Pretendard"/>
                <a:ea typeface="Pretendard"/>
              </a:rPr>
              <a:t>기대 효과 (ROI)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260" y="3643266"/>
            <a:ext cx="1017742" cy="2106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24" b="1">
                <a:solidFill>
                  <a:srgbClr val="5B9BD5"/>
                </a:solidFill>
                <a:latin typeface="Pretendard"/>
                <a:ea typeface="Pretendard"/>
              </a:rPr>
              <a:t>이탈 40%↓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260" y="3882896"/>
            <a:ext cx="861168" cy="1108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49" b="0">
                <a:solidFill>
                  <a:srgbClr val="9CA3AF"/>
                </a:solidFill>
                <a:latin typeface="Pretendard"/>
                <a:ea typeface="Pretendard"/>
              </a:rPr>
              <a:t>공공 매출 25%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481" y="5511330"/>
            <a:ext cx="111349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0">
                <a:solidFill>
                  <a:srgbClr val="4B5563"/>
                </a:solidFill>
                <a:latin typeface="Pretendard"/>
                <a:ea typeface="Pretendard"/>
              </a:rPr>
              <a:t>•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481" y="5721544"/>
            <a:ext cx="111349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0">
                <a:solidFill>
                  <a:srgbClr val="4B5563"/>
                </a:solidFill>
                <a:latin typeface="Pretendard"/>
                <a:ea typeface="Pretendard"/>
              </a:rPr>
              <a:t>•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89" y="6497776"/>
            <a:ext cx="2769869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9CA3AF"/>
                </a:solidFill>
                <a:latin typeface="Pretendard"/>
                <a:ea typeface="Pretendard"/>
              </a:rPr>
              <a:t>© 2026 AI Strategy &amp; Decision Board. Confidential.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35144" y="6497776"/>
            <a:ext cx="617386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44546A"/>
                </a:solidFill>
                <a:latin typeface="Pretendard"/>
                <a:ea typeface="Pretendard"/>
              </a:rPr>
              <a:t>PAGE 1 /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377" y="478118"/>
            <a:ext cx="5038989" cy="2628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99" b="1">
                <a:solidFill>
                  <a:srgbClr val="FFFFFF"/>
                </a:solidFill>
                <a:latin typeface="Pretendard"/>
                <a:ea typeface="Pretendard"/>
              </a:rPr>
              <a:t>세부 기능별 이용 선호도 및 항목별 만족도 격차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882" y="933814"/>
            <a:ext cx="6090360" cy="1773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0">
                <a:solidFill>
                  <a:srgbClr val="6B7280"/>
                </a:solidFill>
                <a:latin typeface="Pretendard"/>
                <a:ea typeface="Pretendard"/>
              </a:rPr>
              <a:t>기본 비서와 교육청 전용 비서의 점유율이 50%를 초과하여 핵심 서비스 라인업으로 기능 중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53" y="1644602"/>
            <a:ext cx="1682747" cy="166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4" b="1">
                <a:solidFill>
                  <a:srgbClr val="44546A"/>
                </a:solidFill>
                <a:latin typeface="Pretendard"/>
                <a:ea typeface="Pretendard"/>
              </a:rPr>
              <a:t>① 기능별 이용 선호도 분포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87118" y="1661222"/>
            <a:ext cx="1053650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6B7280"/>
                </a:solidFill>
                <a:latin typeface="Pretendard"/>
                <a:ea typeface="Pretendard"/>
              </a:rPr>
              <a:t>(N=290, 중복 포함)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53" y="1930250"/>
            <a:ext cx="515248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333333"/>
                </a:solidFill>
                <a:latin typeface="Pretendard"/>
                <a:ea typeface="Pretendard"/>
              </a:rPr>
              <a:t>기본 비서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3927" y="1929336"/>
            <a:ext cx="531317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44546A"/>
                </a:solidFill>
                <a:latin typeface="Pretendard"/>
                <a:ea typeface="Pretendard"/>
              </a:rPr>
              <a:t>28.97%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53" y="2139795"/>
            <a:ext cx="910611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333333"/>
                </a:solidFill>
                <a:latin typeface="Pretendard"/>
                <a:ea typeface="Pretendard"/>
              </a:rPr>
              <a:t>교육청 전용 비서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3927" y="2138881"/>
            <a:ext cx="531317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ED7D31"/>
                </a:solidFill>
                <a:latin typeface="Pretendard"/>
                <a:ea typeface="Pretendard"/>
              </a:rPr>
              <a:t>22.07%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53" y="2349339"/>
            <a:ext cx="635132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333333"/>
                </a:solidFill>
                <a:latin typeface="Pretendard"/>
                <a:ea typeface="Pretendard"/>
              </a:rPr>
              <a:t>나만의 비서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3927" y="2348425"/>
            <a:ext cx="531317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5B9BD5"/>
                </a:solidFill>
                <a:latin typeface="Pretendard"/>
                <a:ea typeface="Pretendard"/>
              </a:rPr>
              <a:t>21.38%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53" y="2558884"/>
            <a:ext cx="515248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333333"/>
                </a:solidFill>
                <a:latin typeface="Pretendard"/>
                <a:ea typeface="Pretendard"/>
              </a:rPr>
              <a:t>문서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3927" y="2557970"/>
            <a:ext cx="531317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6B7280"/>
                </a:solidFill>
                <a:latin typeface="Pretendard"/>
                <a:ea typeface="Pretendard"/>
              </a:rPr>
              <a:t>17.93%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53" y="2768429"/>
            <a:ext cx="635132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333333"/>
                </a:solidFill>
                <a:latin typeface="Pretendard"/>
                <a:ea typeface="Pretendard"/>
              </a:rPr>
              <a:t>텍스트 추출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583" y="2767515"/>
            <a:ext cx="442551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6B7280"/>
                </a:solidFill>
                <a:latin typeface="Pretendard"/>
                <a:ea typeface="Pretendard"/>
              </a:rPr>
              <a:t>8.28%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53" y="4014613"/>
            <a:ext cx="2000607" cy="166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4" b="1">
                <a:solidFill>
                  <a:srgbClr val="44546A"/>
                </a:solidFill>
                <a:latin typeface="Pretendard"/>
                <a:ea typeface="Pretendard"/>
              </a:rPr>
              <a:t>② 주요 항목별 만족도 격차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75" y="4295218"/>
            <a:ext cx="2570062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222222"/>
                </a:solidFill>
                <a:latin typeface="Pretendard"/>
                <a:ea typeface="Pretendard"/>
              </a:rPr>
              <a:t>전용 공식 비서 만족도 격차 발생 </a:t>
            </a:r>
            <a:r>
              <a:rPr sz="974" b="1">
                <a:solidFill>
                  <a:srgbClr val="ED7D31"/>
                </a:solidFill>
                <a:latin typeface="Pretendard"/>
                <a:ea typeface="Pretendard"/>
              </a:rPr>
              <a:t>(10%p 저하)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75" y="4472546"/>
            <a:ext cx="5535010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555555"/>
                </a:solidFill>
                <a:latin typeface="Pretendard"/>
                <a:ea typeface="Pretendard"/>
              </a:rPr>
              <a:t>기본 비서 만족도(89%) 대비 전용 비서(79%) 만족도가 낮음. 교육 행정 업무에 특화된 템플릿의 정교화 작업이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575" y="4633073"/>
            <a:ext cx="661149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555555"/>
                </a:solidFill>
                <a:latin typeface="Pretendard"/>
                <a:ea typeface="Pretendard"/>
              </a:rPr>
              <a:t>시급한 시점.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75" y="4893910"/>
            <a:ext cx="2960823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222222"/>
                </a:solidFill>
                <a:latin typeface="Pretendard"/>
                <a:ea typeface="Pretendard"/>
              </a:rPr>
              <a:t>자연스러움 대비 실질적 문제 해결력 미흡 </a:t>
            </a:r>
            <a:r>
              <a:rPr sz="974" b="1">
                <a:solidFill>
                  <a:srgbClr val="5B9BD5"/>
                </a:solidFill>
                <a:latin typeface="Pretendard"/>
                <a:ea typeface="Pretendard"/>
              </a:rPr>
              <a:t>(2%p 격차)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75" y="5071237"/>
            <a:ext cx="5563499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555555"/>
                </a:solidFill>
                <a:latin typeface="Pretendard"/>
                <a:ea typeface="Pretendard"/>
              </a:rPr>
              <a:t>대화 자연스러움(90%) 대비 실제 업무 도움도(88%)가 낮음. 단순 문체 교정을 넘어 복잡한 행정 처리를 위한 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75" y="5231765"/>
            <a:ext cx="1059063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555555"/>
                </a:solidFill>
                <a:latin typeface="Pretendard"/>
                <a:ea typeface="Pretendard"/>
              </a:rPr>
              <a:t>성능 모델 지원 필수.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314" y="1775355"/>
            <a:ext cx="915930" cy="120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FFFFFF"/>
                </a:solidFill>
                <a:latin typeface="Pretendard"/>
                <a:ea typeface="Pretendard"/>
              </a:rPr>
              <a:t>의사결정 필요 안건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3116" y="2032857"/>
            <a:ext cx="3978555" cy="1995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49" b="1">
                <a:solidFill>
                  <a:srgbClr val="44546A"/>
                </a:solidFill>
                <a:latin typeface="Pretendard"/>
                <a:ea typeface="Pretendard"/>
              </a:rPr>
              <a:t>고성능 모델(GPT-4o) 재도입 및 인프라 개선 승인의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3116" y="2257108"/>
            <a:ext cx="215439" cy="1971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49" b="1">
                <a:solidFill>
                  <a:srgbClr val="44546A"/>
                </a:solidFill>
                <a:latin typeface="Pretendard"/>
                <a:ea typeface="Pretendard"/>
              </a:rPr>
              <a:t>건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6938" y="2705273"/>
            <a:ext cx="1608377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44546A"/>
                </a:solidFill>
                <a:latin typeface="Pretendard"/>
                <a:ea typeface="Pretendard"/>
              </a:rPr>
              <a:t>[주관식 응답 데이터 분석 결과]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6938" y="2891575"/>
            <a:ext cx="3762962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E05300"/>
                </a:solidFill>
                <a:latin typeface="Pretendard"/>
                <a:ea typeface="Pretendard"/>
              </a:rPr>
              <a:t>전체 요구사항의 45%가 "유료 버전 수준의 GPT-4o 재도입" 및 "접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6938" y="3065465"/>
            <a:ext cx="1896339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E05300"/>
                </a:solidFill>
                <a:latin typeface="Pretendard"/>
                <a:ea typeface="Pretendard"/>
              </a:rPr>
              <a:t>속 환경 안정화"를 강력히 요구 중.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3116" y="3500967"/>
            <a:ext cx="2769325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44546A"/>
                </a:solidFill>
                <a:latin typeface="Pretendard"/>
                <a:ea typeface="Pretendard"/>
              </a:rPr>
              <a:t>의사결정 영향도 (Financial &amp; Risk Impact)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3116" y="3798556"/>
            <a:ext cx="586277" cy="1314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222222"/>
                </a:solidFill>
                <a:latin typeface="Pretendard"/>
                <a:ea typeface="Pretendard"/>
              </a:rPr>
              <a:t>재무 임팩트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5097" y="3798153"/>
            <a:ext cx="3251128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555555"/>
                </a:solidFill>
                <a:latin typeface="Pretendard"/>
                <a:ea typeface="Pretendard"/>
              </a:rPr>
              <a:t>고성능 모델 전환 시 API 비용 증가 대비, 고가치 사용자 이탈 방지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5097" y="3970110"/>
            <a:ext cx="1485117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555555"/>
                </a:solidFill>
                <a:latin typeface="Pretendard"/>
                <a:ea typeface="Pretendard"/>
              </a:rPr>
              <a:t>를 통한 장기적 ROI 확보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3116" y="4199216"/>
            <a:ext cx="696939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222222"/>
                </a:solidFill>
                <a:latin typeface="Pretendard"/>
                <a:ea typeface="Pretendard"/>
              </a:rPr>
              <a:t>미조치 리스크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5097" y="4199216"/>
            <a:ext cx="3194387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E05300"/>
                </a:solidFill>
                <a:latin typeface="Pretendard"/>
                <a:ea typeface="Pretendard"/>
              </a:rPr>
              <a:t>저성능 모델 유지 시 핵심 서비스 라인업(점유율 51%+)의 사용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5097" y="4371576"/>
            <a:ext cx="984192" cy="1314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E05300"/>
                </a:solidFill>
                <a:latin typeface="Pretendard"/>
                <a:ea typeface="Pretendard"/>
              </a:rPr>
              <a:t>자 이탈율 급증 우려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86463" y="4837873"/>
            <a:ext cx="2736223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A6B9D0"/>
                </a:solidFill>
                <a:latin typeface="Pretendard"/>
                <a:ea typeface="Pretendard"/>
              </a:rPr>
              <a:t>최종 요청 사항 (REQUEST FOR APPROVAL)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8859" y="5047269"/>
            <a:ext cx="2109903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FFFFFF"/>
                </a:solidFill>
                <a:latin typeface="Pretendard"/>
                <a:ea typeface="Pretendard"/>
              </a:rPr>
              <a:t>GPT-4o API 유료 플랜 재도입</a:t>
            </a:r>
            <a:r>
              <a:rPr sz="899" b="0">
                <a:solidFill>
                  <a:srgbClr val="FFFFFF"/>
                </a:solidFill>
                <a:latin typeface="Pretendard"/>
                <a:ea typeface="Pretendard"/>
              </a:rPr>
              <a:t> 예산 승인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8859" y="5257863"/>
            <a:ext cx="2587624" cy="1314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FFFFFF"/>
                </a:solidFill>
                <a:latin typeface="Pretendard"/>
                <a:ea typeface="Pretendard"/>
              </a:rPr>
              <a:t>교육 행정 업무용 특화 템플릿 정교화 개발 인력 배정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8859" y="5467140"/>
            <a:ext cx="2925974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1">
                <a:solidFill>
                  <a:srgbClr val="FFFFFF"/>
                </a:solidFill>
                <a:latin typeface="Pretendard"/>
                <a:ea typeface="Pretendard"/>
              </a:rPr>
              <a:t>의사결정 기한:</a:t>
            </a:r>
            <a:r>
              <a:rPr sz="899" b="0">
                <a:solidFill>
                  <a:srgbClr val="FFFFFF"/>
                </a:solidFill>
                <a:latin typeface="Pretendard"/>
                <a:ea typeface="Pretendard"/>
              </a:rPr>
              <a:t> 2026년 7월 말 限 (차기 서비스 개편 반영)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35110" y="5047269"/>
            <a:ext cx="106895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FFFFFF"/>
                </a:solidFill>
                <a:latin typeface="Pretendard"/>
                <a:ea typeface="Pretendard"/>
              </a:rPr>
              <a:t>•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35110" y="5256948"/>
            <a:ext cx="106895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FFFFFF"/>
                </a:solidFill>
                <a:latin typeface="Pretendard"/>
                <a:ea typeface="Pretendard"/>
              </a:rPr>
              <a:t>•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35110" y="5466628"/>
            <a:ext cx="106895" cy="1330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99" b="0">
                <a:solidFill>
                  <a:srgbClr val="FFFFFF"/>
                </a:solidFill>
                <a:latin typeface="Pretendard"/>
                <a:ea typeface="Pretendard"/>
              </a:rPr>
              <a:t>•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783" y="6449924"/>
            <a:ext cx="2192088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6B7280"/>
                </a:solidFill>
                <a:latin typeface="Pretendard"/>
                <a:ea typeface="Pretendard"/>
              </a:rPr>
              <a:t>AI 대응 전략 수립 보고서 — 서비스 고도화 분과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7035" y="6450152"/>
            <a:ext cx="2532565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6B7280"/>
                </a:solidFill>
                <a:latin typeface="Pretendard"/>
                <a:ea typeface="Pretendard"/>
              </a:rPr>
              <a:t>작성 기준일: 2026년 7월 19일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476" y="408812"/>
            <a:ext cx="6591744" cy="2882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949" b="1">
                <a:solidFill>
                  <a:srgbClr val="FFFFFF"/>
                </a:solidFill>
                <a:latin typeface="Pretendard"/>
                <a:ea typeface="Pretendard"/>
              </a:rPr>
              <a:t>SenGPT 경쟁력 강화를 위한 2026년 하반기 3대 실행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476" y="1037673"/>
            <a:ext cx="4816783" cy="1552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0">
                <a:solidFill>
                  <a:srgbClr val="D1D5DB"/>
                </a:solidFill>
                <a:latin typeface="Pretendard"/>
                <a:ea typeface="Pretendard"/>
              </a:rPr>
              <a:t>모델 업그레이드, 문서 호환성 확보, UI 간소화를 통한 사용자 경험의 근본적 혁신 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3" y="1666870"/>
            <a:ext cx="1267321" cy="166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4" b="1">
                <a:solidFill>
                  <a:srgbClr val="44546A"/>
                </a:solidFill>
                <a:latin typeface="Pretendard"/>
                <a:ea typeface="Pretendard"/>
              </a:rPr>
              <a:t>3대 핵심 실행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26" y="2138509"/>
            <a:ext cx="449292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FFFFFF"/>
                </a:solidFill>
                <a:latin typeface="Pretendard"/>
                <a:ea typeface="Pretendard"/>
              </a:rPr>
              <a:t>전략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2168" y="2081501"/>
            <a:ext cx="2114331" cy="1773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1">
                <a:solidFill>
                  <a:srgbClr val="111827"/>
                </a:solidFill>
                <a:latin typeface="Pretendard"/>
                <a:ea typeface="Pretendard"/>
              </a:rPr>
              <a:t>고성능 LLM 모델 라인업 재조정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2168" y="2315240"/>
            <a:ext cx="5329759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0">
                <a:solidFill>
                  <a:srgbClr val="4B5563"/>
                </a:solidFill>
                <a:latin typeface="Pretendard"/>
                <a:ea typeface="Pretendard"/>
              </a:rPr>
              <a:t>저성능 모델(4.1 Nano)을 퇴출하고 GPT-4o 및 4o-mini 하이브리드 운영 체계 구축으로 추론 능력 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2168" y="2495772"/>
            <a:ext cx="119884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0">
                <a:solidFill>
                  <a:srgbClr val="4B5563"/>
                </a:solidFill>
                <a:latin typeface="Pretendard"/>
                <a:ea typeface="Pretendard"/>
              </a:rPr>
              <a:t>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26" y="3300530"/>
            <a:ext cx="449292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FFFFFF"/>
                </a:solidFill>
                <a:latin typeface="Pretendard"/>
                <a:ea typeface="Pretendard"/>
              </a:rPr>
              <a:t>전략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2168" y="3242843"/>
            <a:ext cx="2652300" cy="1773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1">
                <a:solidFill>
                  <a:srgbClr val="111827"/>
                </a:solidFill>
                <a:latin typeface="Pretendard"/>
                <a:ea typeface="Pretendard"/>
              </a:rPr>
              <a:t>HWP 문서 양방향 분석 파이프라인 신설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2168" y="3477032"/>
            <a:ext cx="5311364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0">
                <a:solidFill>
                  <a:srgbClr val="4B5563"/>
                </a:solidFill>
                <a:latin typeface="Pretendard"/>
                <a:ea typeface="Pretendard"/>
              </a:rPr>
              <a:t>한글 텍스트 및 서식 구조 분석 기술 도입으로 실제 업무 효율을 극대화하는 문서 초안 작성 및 다운로드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2168" y="3656728"/>
            <a:ext cx="502729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0">
                <a:solidFill>
                  <a:srgbClr val="4B5563"/>
                </a:solidFill>
                <a:latin typeface="Pretendard"/>
                <a:ea typeface="Pretendard"/>
              </a:rPr>
              <a:t>기능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26" y="4462550"/>
            <a:ext cx="449292" cy="144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1">
                <a:solidFill>
                  <a:srgbClr val="FFFFFF"/>
                </a:solidFill>
                <a:latin typeface="Pretendard"/>
                <a:ea typeface="Pretendard"/>
              </a:rPr>
              <a:t>전략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2168" y="4405543"/>
            <a:ext cx="2243770" cy="1773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99" b="1">
                <a:solidFill>
                  <a:srgbClr val="111827"/>
                </a:solidFill>
                <a:latin typeface="Pretendard"/>
                <a:ea typeface="Pretendard"/>
              </a:rPr>
              <a:t>미니멀리즘 기반 UI/UX 전면 개편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2168" y="4639732"/>
            <a:ext cx="5362959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0">
                <a:solidFill>
                  <a:srgbClr val="4B5563"/>
                </a:solidFill>
                <a:latin typeface="Pretendard"/>
                <a:ea typeface="Pretendard"/>
              </a:rPr>
              <a:t>대화창 중심의 깔끔한 첫 화면을 보장하고 사용도가 낮은 비서 목록은 슬라이드 메뉴로 숨김 처리하여 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2168" y="4819428"/>
            <a:ext cx="502729" cy="1423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74" b="0">
                <a:solidFill>
                  <a:srgbClr val="4B5563"/>
                </a:solidFill>
                <a:latin typeface="Pretendard"/>
                <a:ea typeface="Pretendard"/>
              </a:rPr>
              <a:t>의성 향상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7433" y="1829851"/>
            <a:ext cx="1397480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44546A"/>
                </a:solidFill>
                <a:latin typeface="Pretendard"/>
                <a:ea typeface="Pretendard"/>
              </a:rPr>
              <a:t>실행 기반 및 확산 방안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7433" y="2079413"/>
            <a:ext cx="87764" cy="1552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5B9BD5"/>
                </a:solidFill>
                <a:latin typeface="Pretendard"/>
                <a:ea typeface="Pretendard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2011" y="2093984"/>
            <a:ext cx="3390424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1">
                <a:solidFill>
                  <a:srgbClr val="374151"/>
                </a:solidFill>
                <a:latin typeface="Pretendard"/>
                <a:ea typeface="Pretendard"/>
              </a:rPr>
              <a:t>기능적 사각지대 해소:</a:t>
            </a:r>
            <a:r>
              <a:rPr sz="937" b="0">
                <a:solidFill>
                  <a:srgbClr val="374151"/>
                </a:solidFill>
                <a:latin typeface="Pretendard"/>
                <a:ea typeface="Pretendard"/>
              </a:rPr>
              <a:t> 중등 생활기록부 도우미 추가 개발 및 학교 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2011" y="2260806"/>
            <a:ext cx="1796195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0">
                <a:solidFill>
                  <a:srgbClr val="374151"/>
                </a:solidFill>
                <a:latin typeface="Pretendard"/>
                <a:ea typeface="Pretendard"/>
              </a:rPr>
              <a:t>'나만의 비서' 부서별 공유 기능 해제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7433" y="2527747"/>
            <a:ext cx="87764" cy="1552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5B9BD5"/>
                </a:solidFill>
                <a:latin typeface="Pretendard"/>
                <a:ea typeface="Pretendard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2011" y="2542317"/>
            <a:ext cx="3543335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1">
                <a:solidFill>
                  <a:srgbClr val="374151"/>
                </a:solidFill>
                <a:latin typeface="Pretendard"/>
                <a:ea typeface="Pretendard"/>
              </a:rPr>
              <a:t>맞춤형 연수 시행:</a:t>
            </a:r>
            <a:r>
              <a:rPr sz="937" b="0">
                <a:solidFill>
                  <a:srgbClr val="374151"/>
                </a:solidFill>
                <a:latin typeface="Pretendard"/>
                <a:ea typeface="Pretendard"/>
              </a:rPr>
              <a:t> 프롬프트 작성법, 비서 제작 가이드 배포를 통해 사용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2011" y="2709953"/>
            <a:ext cx="1281421" cy="1369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0">
                <a:solidFill>
                  <a:srgbClr val="374151"/>
                </a:solidFill>
                <a:latin typeface="Pretendard"/>
                <a:ea typeface="Pretendard"/>
              </a:rPr>
              <a:t>자 간 활용 능력 격차 해소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057" y="3708796"/>
            <a:ext cx="1171036" cy="1533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49" b="1">
                <a:solidFill>
                  <a:srgbClr val="ED7D31"/>
                </a:solidFill>
                <a:latin typeface="Pretendard"/>
                <a:ea typeface="Pretendard"/>
              </a:rPr>
              <a:t>의사결정 요청 사항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8054" y="3724666"/>
            <a:ext cx="1058837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1">
                <a:solidFill>
                  <a:srgbClr val="FFFFFF"/>
                </a:solidFill>
                <a:latin typeface="Pretendard"/>
                <a:ea typeface="Pretendard"/>
              </a:rPr>
              <a:t>기한: 2026.07.31 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057" y="3976655"/>
            <a:ext cx="3702688" cy="1496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12" b="1">
                <a:solidFill>
                  <a:srgbClr val="111827"/>
                </a:solidFill>
                <a:latin typeface="Pretendard"/>
                <a:ea typeface="Pretendard"/>
              </a:rPr>
              <a:t>하반기 SenGPT 시장 경쟁력 확보를 위해 아래 리소스 투입 및 즉시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057" y="4157231"/>
            <a:ext cx="1375808" cy="1496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12" b="1">
                <a:solidFill>
                  <a:srgbClr val="111827"/>
                </a:solidFill>
                <a:latin typeface="Pretendard"/>
                <a:ea typeface="Pretendard"/>
              </a:rPr>
              <a:t>실행 승인을 요청합니다.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8879" y="4472313"/>
            <a:ext cx="370944" cy="1369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0">
                <a:solidFill>
                  <a:srgbClr val="4B5563"/>
                </a:solidFill>
                <a:latin typeface="Pretendard"/>
                <a:ea typeface="Pretendard"/>
              </a:rPr>
              <a:t>요청 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8879" y="4611045"/>
            <a:ext cx="115273" cy="1369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0">
                <a:solidFill>
                  <a:srgbClr val="4B5563"/>
                </a:solidFill>
                <a:latin typeface="Pretendard"/>
                <a:ea typeface="Pretendard"/>
              </a:rPr>
              <a:t>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3530" y="4471890"/>
            <a:ext cx="1783573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1">
                <a:solidFill>
                  <a:srgbClr val="111827"/>
                </a:solidFill>
                <a:latin typeface="Pretendard"/>
                <a:ea typeface="Pretendard"/>
              </a:rPr>
              <a:t>총 1.8억원 (인프라 및 라이선스 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3530" y="4611013"/>
            <a:ext cx="168245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1">
                <a:solidFill>
                  <a:srgbClr val="111827"/>
                </a:solidFill>
                <a:latin typeface="Pretendard"/>
                <a:ea typeface="Pretendard"/>
              </a:rPr>
              <a:t>용)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8879" y="4874381"/>
            <a:ext cx="370944" cy="1369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0">
                <a:solidFill>
                  <a:srgbClr val="4B5563"/>
                </a:solidFill>
                <a:latin typeface="Pretendard"/>
                <a:ea typeface="Pretendard"/>
              </a:rPr>
              <a:t>필요 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8879" y="5013113"/>
            <a:ext cx="115273" cy="1369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0">
                <a:solidFill>
                  <a:srgbClr val="4B5563"/>
                </a:solidFill>
                <a:latin typeface="Pretendard"/>
                <a:ea typeface="Pretendard"/>
              </a:rPr>
              <a:t>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6239" y="4873958"/>
            <a:ext cx="1854326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1">
                <a:solidFill>
                  <a:srgbClr val="111827"/>
                </a:solidFill>
                <a:latin typeface="Pretendard"/>
                <a:ea typeface="Pretendard"/>
              </a:rPr>
              <a:t>개발 3명, UX 디자이너 1명 즉시 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6239" y="5013503"/>
            <a:ext cx="115273" cy="1369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1">
                <a:solidFill>
                  <a:srgbClr val="111827"/>
                </a:solidFill>
                <a:latin typeface="Pretendard"/>
                <a:ea typeface="Pretendard"/>
              </a:rPr>
              <a:t>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8879" y="5276058"/>
            <a:ext cx="370944" cy="1369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0">
                <a:solidFill>
                  <a:srgbClr val="4B5563"/>
                </a:solidFill>
                <a:latin typeface="Pretendard"/>
                <a:ea typeface="Pretendard"/>
              </a:rPr>
              <a:t>기대 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8879" y="5414790"/>
            <a:ext cx="115273" cy="1369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0">
                <a:solidFill>
                  <a:srgbClr val="4B5563"/>
                </a:solidFill>
                <a:latin typeface="Pretendard"/>
                <a:ea typeface="Pretendard"/>
              </a:rPr>
              <a:t>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0795" y="5275635"/>
            <a:ext cx="1725941" cy="1385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1">
                <a:solidFill>
                  <a:srgbClr val="ED7D31"/>
                </a:solidFill>
                <a:latin typeface="Pretendard"/>
                <a:ea typeface="Pretendard"/>
              </a:rPr>
              <a:t>추론 능력 복원 및 리텐션 40% 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0795" y="5415180"/>
            <a:ext cx="115273" cy="1369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37" b="1">
                <a:solidFill>
                  <a:srgbClr val="ED7D31"/>
                </a:solidFill>
                <a:latin typeface="Pretendard"/>
                <a:ea typeface="Pretendard"/>
              </a:rPr>
              <a:t>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783" y="6423145"/>
            <a:ext cx="2375310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9CA3AF"/>
                </a:solidFill>
                <a:latin typeface="Pretendard"/>
                <a:ea typeface="Pretendard"/>
              </a:rPr>
              <a:t>SenGPT 전략기획본부 | 2026년 하반기 대응 전략 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783" y="6545944"/>
            <a:ext cx="101441" cy="1204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9CA3AF"/>
                </a:solidFill>
                <a:latin typeface="Pretendard"/>
                <a:ea typeface="Pretendard"/>
              </a:rPr>
              <a:t>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33176" y="6423438"/>
            <a:ext cx="1243869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9CA3AF"/>
                </a:solidFill>
                <a:latin typeface="Pretendard"/>
                <a:ea typeface="Pretendard"/>
              </a:rPr>
              <a:t>기준일: 2026년 7월 19일 |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3176" y="6545400"/>
            <a:ext cx="764363" cy="1219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24" b="0">
                <a:solidFill>
                  <a:srgbClr val="9CA3AF"/>
                </a:solidFill>
                <a:latin typeface="Pretendard"/>
                <a:ea typeface="Pretendard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1513</Words>
  <Application>Microsoft Office PowerPoint</Application>
  <PresentationFormat>와이드스크린</PresentationFormat>
  <Paragraphs>226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박병기</cp:lastModifiedBy>
  <cp:revision>2</cp:revision>
  <dcterms:created xsi:type="dcterms:W3CDTF">2013-01-27T09:14:16Z</dcterms:created>
  <dcterms:modified xsi:type="dcterms:W3CDTF">2026-07-19T05:28:19Z</dcterms:modified>
  <cp:category/>
</cp:coreProperties>
</file>